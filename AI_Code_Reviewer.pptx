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5943600" cy="5943600"/>
          </a:xfrm>
          <a:prstGeom prst="ellipse">
            <a:avLst/>
          </a:prstGeom>
          <a:solidFill>
            <a:srgbClr val="1A2F3A">
              <a:alpha val="18000"/>
            </a:srgbClr>
          </a:solidFill>
          <a:ln w="12700">
            <a:solidFill>
              <a:srgbClr val="1A2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560320"/>
            <a:ext cx="5029200" cy="5029200"/>
          </a:xfrm>
          <a:prstGeom prst="ellipse">
            <a:avLst/>
          </a:prstGeom>
          <a:solidFill>
            <a:srgbClr val="121E28">
              <a:alpha val="15000"/>
            </a:srgbClr>
          </a:solidFill>
          <a:ln w="12700">
            <a:solidFill>
              <a:srgbClr val="121E2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128016"/>
            <a:ext cx="4663440" cy="4663440"/>
          </a:xfrm>
          <a:prstGeom prst="ellipse">
            <a:avLst/>
          </a:prstGeom>
          <a:solidFill>
            <a:srgbClr val="151A22"/>
          </a:solidFill>
          <a:ln w="317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310896"/>
            <a:ext cx="4297680" cy="4297680"/>
          </a:xfrm>
          <a:prstGeom prst="ellipse">
            <a:avLst/>
          </a:prstGeom>
          <a:solidFill>
            <a:srgbClr val="11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51560"/>
            <a:ext cx="2926080" cy="82296"/>
          </a:xfrm>
          <a:prstGeom prst="rect">
            <a:avLst/>
          </a:prstGeom>
          <a:solidFill>
            <a:srgbClr val="2A4A5A"/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98448"/>
            <a:ext cx="1920240" cy="82296"/>
          </a:xfrm>
          <a:prstGeom prst="rect">
            <a:avLst/>
          </a:prstGeom>
          <a:solidFill>
            <a:srgbClr val="B8975A">
              <a:alpha val="55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5336"/>
            <a:ext cx="2560320" cy="82296"/>
          </a:xfrm>
          <a:prstGeom prst="rect">
            <a:avLst/>
          </a:prstGeom>
          <a:solidFill>
            <a:srgbClr val="2A4A5A"/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792224"/>
            <a:ext cx="1371600" cy="82296"/>
          </a:xfrm>
          <a:prstGeom prst="rect">
            <a:avLst/>
          </a:prstGeom>
          <a:solidFill>
            <a:srgbClr val="B8975A">
              <a:alpha val="60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39112"/>
            <a:ext cx="2743200" cy="82296"/>
          </a:xfrm>
          <a:prstGeom prst="rect">
            <a:avLst/>
          </a:prstGeom>
          <a:solidFill>
            <a:srgbClr val="2A4A5A"/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86000"/>
            <a:ext cx="2194560" cy="82296"/>
          </a:xfrm>
          <a:prstGeom prst="rect">
            <a:avLst/>
          </a:prstGeom>
          <a:solidFill>
            <a:srgbClr val="2A4A5A">
              <a:alpha val="90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32888"/>
            <a:ext cx="1645920" cy="82296"/>
          </a:xfrm>
          <a:prstGeom prst="rect">
            <a:avLst/>
          </a:prstGeom>
          <a:solidFill>
            <a:srgbClr val="B8975A">
              <a:alpha val="50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79776"/>
            <a:ext cx="2377440" cy="82296"/>
          </a:xfrm>
          <a:prstGeom prst="rect">
            <a:avLst/>
          </a:prstGeom>
          <a:solidFill>
            <a:srgbClr val="2A4A5A"/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026664"/>
            <a:ext cx="1188720" cy="82296"/>
          </a:xfrm>
          <a:prstGeom prst="rect">
            <a:avLst/>
          </a:prstGeom>
          <a:solidFill>
            <a:srgbClr val="B8975A">
              <a:alpha val="55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273552"/>
            <a:ext cx="2651760" cy="82296"/>
          </a:xfrm>
          <a:prstGeom prst="rect">
            <a:avLst/>
          </a:prstGeom>
          <a:solidFill>
            <a:srgbClr val="2A4A5A">
              <a:alpha val="95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611880"/>
            <a:ext cx="256032" cy="502920"/>
          </a:xfrm>
          <a:prstGeom prst="rect">
            <a:avLst/>
          </a:prstGeom>
          <a:solidFill>
            <a:srgbClr val="2E5068"/>
          </a:solidFill>
          <a:ln w="12700">
            <a:solidFill>
              <a:srgbClr val="2E50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75104" y="3310128"/>
            <a:ext cx="256032" cy="804672"/>
          </a:xfrm>
          <a:prstGeom prst="rect">
            <a:avLst/>
          </a:prstGeom>
          <a:solidFill>
            <a:srgbClr val="D4AF7A">
              <a:alpha val="70000"/>
            </a:srgbClr>
          </a:solidFill>
          <a:ln w="12700">
            <a:solidFill>
              <a:srgbClr val="D4AF7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04288" y="3547872"/>
            <a:ext cx="256032" cy="566928"/>
          </a:xfrm>
          <a:prstGeom prst="rect">
            <a:avLst/>
          </a:prstGeom>
          <a:solidFill>
            <a:srgbClr val="2E5068"/>
          </a:solidFill>
          <a:ln w="12700">
            <a:solidFill>
              <a:srgbClr val="2E50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3154680"/>
            <a:ext cx="256032" cy="960120"/>
          </a:xfrm>
          <a:prstGeom prst="rect">
            <a:avLst/>
          </a:prstGeom>
          <a:solidFill>
            <a:srgbClr val="B8975A">
              <a:alpha val="80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2656" y="3456432"/>
            <a:ext cx="256032" cy="658368"/>
          </a:xfrm>
          <a:prstGeom prst="rect">
            <a:avLst/>
          </a:prstGeom>
          <a:solidFill>
            <a:srgbClr val="2E5068"/>
          </a:solidFill>
          <a:ln w="12700">
            <a:solidFill>
              <a:srgbClr val="2E50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675888"/>
            <a:ext cx="256032" cy="438912"/>
          </a:xfrm>
          <a:prstGeom prst="rect">
            <a:avLst/>
          </a:prstGeom>
          <a:solidFill>
            <a:srgbClr val="D4AF7A">
              <a:alpha val="60000"/>
            </a:srgbClr>
          </a:solidFill>
          <a:ln w="12700">
            <a:solidFill>
              <a:srgbClr val="D4AF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657600"/>
            <a:ext cx="868680" cy="868680"/>
          </a:xfrm>
          <a:prstGeom prst="ellipse">
            <a:avLst/>
          </a:prstGeom>
          <a:solidFill>
            <a:srgbClr val="B8975A">
              <a:alpha val="70000"/>
            </a:srgbClr>
          </a:solidFill>
          <a:ln w="19050">
            <a:solidFill>
              <a:srgbClr val="B897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3867912"/>
            <a:ext cx="438912" cy="438912"/>
          </a:xfrm>
          <a:prstGeom prst="ellipse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640080"/>
            <a:ext cx="64008" cy="64008"/>
          </a:xfrm>
          <a:prstGeom prst="ellipse">
            <a:avLst/>
          </a:prstGeom>
          <a:solidFill>
            <a:srgbClr val="B8975A">
              <a:alpha val="45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1097280"/>
            <a:ext cx="64008" cy="64008"/>
          </a:xfrm>
          <a:prstGeom prst="ellipse">
            <a:avLst/>
          </a:prstGeom>
          <a:solidFill>
            <a:srgbClr val="B8975A">
              <a:alpha val="45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2560320"/>
            <a:ext cx="64008" cy="64008"/>
          </a:xfrm>
          <a:prstGeom prst="ellipse">
            <a:avLst/>
          </a:prstGeom>
          <a:solidFill>
            <a:srgbClr val="B8975A">
              <a:alpha val="45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4389120"/>
            <a:ext cx="64008" cy="64008"/>
          </a:xfrm>
          <a:prstGeom prst="ellipse">
            <a:avLst/>
          </a:prstGeom>
          <a:solidFill>
            <a:srgbClr val="B8975A">
              <a:alpha val="45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114800"/>
            <a:ext cx="64008" cy="64008"/>
          </a:xfrm>
          <a:prstGeom prst="ellipse">
            <a:avLst/>
          </a:prstGeom>
          <a:solidFill>
            <a:srgbClr val="B8975A">
              <a:alpha val="45000"/>
            </a:srgbClr>
          </a:solidFill>
          <a:ln w="12700">
            <a:solidFill>
              <a:srgbClr val="B8975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9744" y="274320"/>
            <a:ext cx="27432" cy="457200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502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CODE ANALYSIS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804672"/>
            <a:ext cx="347472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96012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Reviewer &amp;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Assistant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5029200" y="3182112"/>
            <a:ext cx="292608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31012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System for Automated Code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Documentation &amp; Validation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029200" y="41605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15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CR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0" y="4663440"/>
            <a:ext cx="713232" cy="228600"/>
          </a:xfrm>
          <a:prstGeom prst="rect">
            <a:avLst/>
          </a:prstGeom>
          <a:solidFill>
            <a:srgbClr val="1E222B"/>
          </a:solidFill>
          <a:ln w="10160">
            <a:solidFill>
              <a:srgbClr val="2A2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6634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797296" y="4663440"/>
            <a:ext cx="713232" cy="228600"/>
          </a:xfrm>
          <a:prstGeom prst="rect">
            <a:avLst/>
          </a:prstGeom>
          <a:solidFill>
            <a:srgbClr val="1E222B"/>
          </a:solidFill>
          <a:ln w="10160">
            <a:solidFill>
              <a:srgbClr val="2A2F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46634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565392" y="4663440"/>
            <a:ext cx="713232" cy="228600"/>
          </a:xfrm>
          <a:prstGeom prst="rect">
            <a:avLst/>
          </a:prstGeom>
          <a:solidFill>
            <a:srgbClr val="1E222B"/>
          </a:solidFill>
          <a:ln w="10160">
            <a:solidFill>
              <a:srgbClr val="2A2F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46634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333488" y="4663440"/>
            <a:ext cx="713232" cy="228600"/>
          </a:xfrm>
          <a:prstGeom prst="rect">
            <a:avLst/>
          </a:prstGeom>
          <a:solidFill>
            <a:srgbClr val="1E222B"/>
          </a:solidFill>
          <a:ln w="10160">
            <a:solidFill>
              <a:srgbClr val="2A2F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33488" y="46634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101584" y="4663440"/>
            <a:ext cx="713232" cy="228600"/>
          </a:xfrm>
          <a:prstGeom prst="rect">
            <a:avLst/>
          </a:prstGeom>
          <a:solidFill>
            <a:srgbClr val="1E222B"/>
          </a:solidFill>
          <a:ln w="10160">
            <a:solidFill>
              <a:srgbClr val="2A2F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01584" y="46634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2A4A5A">
              <a:alpha val="12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4114800" cy="4114800"/>
          </a:xfrm>
          <a:prstGeom prst="ellipse">
            <a:avLst/>
          </a:prstGeom>
          <a:solidFill>
            <a:srgbClr val="1A3445">
              <a:alpha val="10000"/>
            </a:srgbClr>
          </a:solidFill>
          <a:ln w="12700">
            <a:solidFill>
              <a:srgbClr val="1A34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475488"/>
            <a:ext cx="548640" cy="0"/>
          </a:xfrm>
          <a:prstGeom prst="line">
            <a:avLst/>
          </a:prstGeom>
          <a:noFill/>
          <a:ln w="19050">
            <a:solidFill>
              <a:srgbClr val="B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320040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298448"/>
            <a:ext cx="2743200" cy="358444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298448"/>
            <a:ext cx="2743200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5024" y="1481328"/>
            <a:ext cx="768096" cy="76809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2A2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14813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" y="23591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" y="2743200"/>
            <a:ext cx="182880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834640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AI-powered tool that automates code reviews, enhances code quality, and improves maintainability across Python projects.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61872" y="4608576"/>
            <a:ext cx="932688" cy="21945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460857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55264" y="1298448"/>
            <a:ext cx="2743200" cy="358444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55264" y="1298448"/>
            <a:ext cx="2743200" cy="54864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42816" y="1481328"/>
            <a:ext cx="768096" cy="76809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2A2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14813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83280" y="23591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Addressed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712464" y="2743200"/>
            <a:ext cx="182880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834640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code reviews are time-consuming, subjective, and require experienced reviewers to catch every issue consistently.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9664" y="4608576"/>
            <a:ext cx="932688" cy="219456"/>
          </a:xfrm>
          <a:prstGeom prst="rect">
            <a:avLst/>
          </a:prstGeom>
          <a:solidFill>
            <a:srgbClr val="1E222B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9664" y="460857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1298448"/>
            <a:ext cx="2743200" cy="358444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298448"/>
            <a:ext cx="2743200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1481328"/>
            <a:ext cx="768096" cy="76809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2A2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14813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91072" y="23591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620256" y="2743200"/>
            <a:ext cx="182880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834640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automatically analyses Python code, detects issues, enforces PEP 257 standards, and generates documentation.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77456" y="4608576"/>
            <a:ext cx="932688" cy="21945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77456" y="460857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2A4A5A">
              <a:alpha val="12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4114800" cy="4114800"/>
          </a:xfrm>
          <a:prstGeom prst="ellipse">
            <a:avLst/>
          </a:prstGeom>
          <a:solidFill>
            <a:srgbClr val="1A3445">
              <a:alpha val="10000"/>
            </a:srgbClr>
          </a:solidFill>
          <a:ln w="12700">
            <a:solidFill>
              <a:srgbClr val="1A34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475488"/>
            <a:ext cx="548640" cy="0"/>
          </a:xfrm>
          <a:prstGeom prst="line">
            <a:avLst/>
          </a:prstGeom>
          <a:noFill/>
          <a:ln w="19050">
            <a:solidFill>
              <a:srgbClr val="B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320040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852928"/>
            <a:ext cx="8778240" cy="0"/>
          </a:xfrm>
          <a:prstGeom prst="line">
            <a:avLst/>
          </a:prstGeom>
          <a:noFill/>
          <a:ln w="25400">
            <a:solidFill>
              <a:srgbClr val="2A2F3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50976" y="2578608"/>
            <a:ext cx="0" cy="256032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697480"/>
            <a:ext cx="329184" cy="329184"/>
          </a:xfrm>
          <a:prstGeom prst="ellipse">
            <a:avLst/>
          </a:prstGeom>
          <a:solidFill>
            <a:srgbClr val="B8975A"/>
          </a:solidFill>
          <a:ln w="31750">
            <a:solidFill>
              <a:srgbClr val="111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231136"/>
            <a:ext cx="420624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3113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" y="987552"/>
            <a:ext cx="2103120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728" y="987552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" y="1078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Visibility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" y="1389888"/>
            <a:ext cx="173736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" y="146304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way to see which functions lack documentation across a project.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45536" y="2907792"/>
            <a:ext cx="0" cy="256032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62656" y="2697480"/>
            <a:ext cx="329184" cy="329184"/>
          </a:xfrm>
          <a:prstGeom prst="ellipse">
            <a:avLst/>
          </a:prstGeom>
          <a:solidFill>
            <a:srgbClr val="B8975A"/>
          </a:solidFill>
          <a:ln w="31750">
            <a:solidFill>
              <a:srgbClr val="1113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3218688"/>
            <a:ext cx="420624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21868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04288" y="3163824"/>
            <a:ext cx="2103120" cy="138988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04288" y="3163824"/>
            <a:ext cx="45720" cy="138988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32304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Checking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32304" y="3566160"/>
            <a:ext cx="173736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32304" y="363931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257 compliance checks done manually are tedious and inconsistent.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0096" y="2578608"/>
            <a:ext cx="0" cy="256032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57216" y="2697480"/>
            <a:ext cx="329184" cy="329184"/>
          </a:xfrm>
          <a:prstGeom prst="ellipse">
            <a:avLst/>
          </a:prstGeom>
          <a:solidFill>
            <a:srgbClr val="B8975A"/>
          </a:solidFill>
          <a:ln w="31750">
            <a:solidFill>
              <a:srgbClr val="1113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231136"/>
            <a:ext cx="420624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23113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98848" y="987552"/>
            <a:ext cx="2103120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98848" y="987552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1078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Auto-Fix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26864" y="1389888"/>
            <a:ext cx="173736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146304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missing docstrings by hand for every function is time-consuming.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34656" y="2907792"/>
            <a:ext cx="0" cy="256032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51776" y="2697480"/>
            <a:ext cx="329184" cy="329184"/>
          </a:xfrm>
          <a:prstGeom prst="ellipse">
            <a:avLst/>
          </a:prstGeom>
          <a:solidFill>
            <a:srgbClr val="B8975A"/>
          </a:solidFill>
          <a:ln w="31750">
            <a:solidFill>
              <a:srgbClr val="1113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3218688"/>
            <a:ext cx="420624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321868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93408" y="3163824"/>
            <a:ext cx="2103120" cy="138988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93408" y="3163824"/>
            <a:ext cx="45720" cy="138988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21424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Blind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21424" y="3566160"/>
            <a:ext cx="173736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21424" y="363931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tool measures cyclomatic complexity or flags hotspots.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2A4A5A">
              <a:alpha val="12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4114800" cy="4114800"/>
          </a:xfrm>
          <a:prstGeom prst="ellipse">
            <a:avLst/>
          </a:prstGeom>
          <a:solidFill>
            <a:srgbClr val="1A3445">
              <a:alpha val="10000"/>
            </a:srgbClr>
          </a:solidFill>
          <a:ln w="12700">
            <a:solidFill>
              <a:srgbClr val="1A34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475488"/>
            <a:ext cx="548640" cy="0"/>
          </a:xfrm>
          <a:prstGeom prst="line">
            <a:avLst/>
          </a:prstGeom>
          <a:noFill/>
          <a:ln w="19050">
            <a:solidFill>
              <a:srgbClr val="B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Implemented Modules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320040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298448"/>
            <a:ext cx="4187952" cy="1097280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298448"/>
            <a:ext cx="4187952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536192"/>
            <a:ext cx="585216" cy="585216"/>
          </a:xfrm>
          <a:prstGeom prst="ellipse">
            <a:avLst/>
          </a:prstGeom>
          <a:solidFill>
            <a:srgbClr val="1E222B"/>
          </a:solidFill>
          <a:ln w="15240">
            <a:solidFill>
              <a:srgbClr val="2A2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36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0432" y="138988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core/parser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70432" y="1700784"/>
            <a:ext cx="3236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scanner — extracts function metadata, complexity score and MI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28032" y="1298448"/>
            <a:ext cx="4187952" cy="1097280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8032" y="1298448"/>
            <a:ext cx="4187952" cy="54864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1536192"/>
            <a:ext cx="585216" cy="585216"/>
          </a:xfrm>
          <a:prstGeom prst="ellipse">
            <a:avLst/>
          </a:prstGeom>
          <a:solidFill>
            <a:srgbClr val="1E222B"/>
          </a:solidFill>
          <a:ln w="15240">
            <a:solidFill>
              <a:srgbClr val="2A2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536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50992" y="138988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core/validator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50992" y="1700784"/>
            <a:ext cx="3236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257 checker — validates D100–D400 rules on every function and class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560320"/>
            <a:ext cx="4187952" cy="1097280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560320"/>
            <a:ext cx="4187952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798064"/>
            <a:ext cx="585216" cy="585216"/>
          </a:xfrm>
          <a:prstGeom prst="ellipse">
            <a:avLst/>
          </a:prstGeom>
          <a:solidFill>
            <a:srgbClr val="1E222B"/>
          </a:solidFill>
          <a:ln w="15240">
            <a:solidFill>
              <a:srgbClr val="2A2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7980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" y="265176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core/docstring_engine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70432" y="2962656"/>
            <a:ext cx="3236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Google/NumPy/ReST templates; Groq LLM smart docstring generation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560320"/>
            <a:ext cx="4187952" cy="1097280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28032" y="2560320"/>
            <a:ext cx="4187952" cy="54864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2798064"/>
            <a:ext cx="585216" cy="585216"/>
          </a:xfrm>
          <a:prstGeom prst="ellipse">
            <a:avLst/>
          </a:prstGeom>
          <a:solidFill>
            <a:srgbClr val="1E222B"/>
          </a:solidFill>
          <a:ln w="15240">
            <a:solidFill>
              <a:srgbClr val="2A2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7980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650992" y="265176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core/reporter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50992" y="2962656"/>
            <a:ext cx="3236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ProjectCoverage reports and exports per-file stats to JSON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3822192"/>
            <a:ext cx="4187952" cy="1097280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3822192"/>
            <a:ext cx="4187952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" y="4059936"/>
            <a:ext cx="585216" cy="585216"/>
          </a:xfrm>
          <a:prstGeom prst="ellipse">
            <a:avLst/>
          </a:prstGeom>
          <a:solidFill>
            <a:srgbClr val="1E222B"/>
          </a:solidFill>
          <a:ln w="15240">
            <a:solidFill>
              <a:srgbClr val="2A2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0599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70432" y="391363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core/review_engine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70432" y="4224528"/>
            <a:ext cx="3236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reviewer — sends source to Groq LLM and logs structured results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28032" y="3822192"/>
            <a:ext cx="4187952" cy="1097280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28032" y="3822192"/>
            <a:ext cx="4187952" cy="54864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56048" y="4059936"/>
            <a:ext cx="585216" cy="585216"/>
          </a:xfrm>
          <a:prstGeom prst="ellipse">
            <a:avLst/>
          </a:prstGeom>
          <a:solidFill>
            <a:srgbClr val="1E222B"/>
          </a:solidFill>
          <a:ln w="15240">
            <a:solidFill>
              <a:srgbClr val="2A2F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40599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650992" y="391363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main_app.py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50992" y="4224528"/>
            <a:ext cx="3236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5 views: Home, Dashboard, Metrics, Coverage,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2A4A5A">
              <a:alpha val="12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4114800" cy="4114800"/>
          </a:xfrm>
          <a:prstGeom prst="ellipse">
            <a:avLst/>
          </a:prstGeom>
          <a:solidFill>
            <a:srgbClr val="1A3445">
              <a:alpha val="10000"/>
            </a:srgbClr>
          </a:solidFill>
          <a:ln w="12700">
            <a:solidFill>
              <a:srgbClr val="1A34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1417320" cy="2926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— 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920240" y="566928"/>
            <a:ext cx="347472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6400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Complexity · Maintainability Index · Function Cards · JSON Export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932688"/>
            <a:ext cx="4828032" cy="2011680"/>
          </a:xfrm>
          <a:prstGeom prst="rect">
            <a:avLst/>
          </a:prstGeom>
          <a:solidFill>
            <a:srgbClr val="080A0D"/>
          </a:solidFill>
          <a:ln w="190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932688"/>
            <a:ext cx="45720" cy="201168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1" name="Image 0" descr="/home/claude/m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978408"/>
            <a:ext cx="4718304" cy="19019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4592" y="3017520"/>
            <a:ext cx="4828032" cy="2011680"/>
          </a:xfrm>
          <a:prstGeom prst="rect">
            <a:avLst/>
          </a:prstGeom>
          <a:solidFill>
            <a:srgbClr val="080A0D"/>
          </a:solidFill>
          <a:ln w="190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4592" y="3017520"/>
            <a:ext cx="45720" cy="201168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4" name="Image 1" descr="/home/claude/m1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3072384"/>
            <a:ext cx="4718304" cy="19019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64592" y="4626864"/>
            <a:ext cx="822960" cy="384048"/>
          </a:xfrm>
          <a:prstGeom prst="rightArrow">
            <a:avLst/>
          </a:prstGeom>
          <a:solidFill>
            <a:srgbClr val="B8975A">
              <a:alpha val="75000"/>
            </a:srgbClr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93792" y="9326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93792" y="932688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58384" y="10241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metric cards — Avg MI Score, Total Functions, High Complexity Functions shown at a glance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910328" y="12893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B897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910328" y="1289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04104" y="15361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193792" y="23042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193792" y="2304288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58384" y="23957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Cards display every function with Low/Medium/High complexity badge and Docs status per file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910328" y="26609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B897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910328" y="26609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🃏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04104" y="29077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93792" y="36758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193792" y="3675888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358384" y="37673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View exports the full structured analysis — file, function, complexity, MI score, docstring status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910328" y="40325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B897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910328" y="4032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5404104" y="42793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2A4A5A">
              <a:alpha val="12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4114800" cy="4114800"/>
          </a:xfrm>
          <a:prstGeom prst="ellipse">
            <a:avLst/>
          </a:prstGeom>
          <a:solidFill>
            <a:srgbClr val="1A3445">
              <a:alpha val="10000"/>
            </a:srgbClr>
          </a:solidFill>
          <a:ln w="12700">
            <a:solidFill>
              <a:srgbClr val="1A34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1417320" cy="29260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— 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920240" y="566928"/>
            <a:ext cx="347472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6400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257 Compliance · Pie Chart Breakdown · Per-File Issue Details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932688"/>
            <a:ext cx="4828032" cy="2011680"/>
          </a:xfrm>
          <a:prstGeom prst="rect">
            <a:avLst/>
          </a:prstGeom>
          <a:solidFill>
            <a:srgbClr val="080A0D"/>
          </a:solidFill>
          <a:ln w="190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932688"/>
            <a:ext cx="45720" cy="201168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pic>
        <p:nvPicPr>
          <p:cNvPr id="11" name="Image 0" descr="/home/claude/m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978408"/>
            <a:ext cx="4718304" cy="19019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4592" y="3017520"/>
            <a:ext cx="4828032" cy="2011680"/>
          </a:xfrm>
          <a:prstGeom prst="rect">
            <a:avLst/>
          </a:prstGeom>
          <a:solidFill>
            <a:srgbClr val="080A0D"/>
          </a:solidFill>
          <a:ln w="190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4592" y="3017520"/>
            <a:ext cx="45720" cy="201168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pic>
        <p:nvPicPr>
          <p:cNvPr id="14" name="Image 1" descr="/home/claude/m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3072384"/>
            <a:ext cx="4718304" cy="19019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64592" y="4626864"/>
            <a:ext cx="822960" cy="384048"/>
          </a:xfrm>
          <a:prstGeom prst="rightArrow">
            <a:avLst/>
          </a:prstGeom>
          <a:solidFill>
            <a:srgbClr val="7A8FA6">
              <a:alpha val="75000"/>
            </a:srgbClr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93792" y="9326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93792" y="932688"/>
            <a:ext cx="45720" cy="120700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58384" y="10241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shows violation breakdown — Missing Docstring 42% · End with Period 54% · Line Space 4%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910328" y="12893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7A8F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910328" y="1289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🥧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04104" y="15361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193792" y="23042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193792" y="2304288"/>
            <a:ext cx="45720" cy="120700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58384" y="23957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expands to show every violation with PEP code (D102, D400) and exact line number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910328" y="26609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7A8F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910328" y="26609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04104" y="29077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93792" y="36758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193792" y="3675888"/>
            <a:ext cx="45720" cy="120700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358384" y="37673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Fix Errors for Groq AI to auto-repair all violations at once across the entire project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910328" y="40325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7A8F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910328" y="4032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5404104" y="42793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2A4A5A">
              <a:alpha val="12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4114800" cy="4114800"/>
          </a:xfrm>
          <a:prstGeom prst="ellipse">
            <a:avLst/>
          </a:prstGeom>
          <a:solidFill>
            <a:srgbClr val="1A3445">
              <a:alpha val="10000"/>
            </a:srgbClr>
          </a:solidFill>
          <a:ln w="12700">
            <a:solidFill>
              <a:srgbClr val="1A34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1417320" cy="2926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— 3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920240" y="566928"/>
            <a:ext cx="347472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6400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Stats · Style Selector · AI Analyse · Apply to 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932688"/>
            <a:ext cx="4828032" cy="2011680"/>
          </a:xfrm>
          <a:prstGeom prst="rect">
            <a:avLst/>
          </a:prstGeom>
          <a:solidFill>
            <a:srgbClr val="080A0D"/>
          </a:solidFill>
          <a:ln w="190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932688"/>
            <a:ext cx="45720" cy="201168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1" name="Image 0" descr="/home/claude/m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978408"/>
            <a:ext cx="4718304" cy="19019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4592" y="3017520"/>
            <a:ext cx="4828032" cy="1645920"/>
          </a:xfrm>
          <a:prstGeom prst="rect">
            <a:avLst/>
          </a:prstGeom>
          <a:solidFill>
            <a:srgbClr val="080A0D"/>
          </a:solidFill>
          <a:ln w="190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4592" y="3017520"/>
            <a:ext cx="45720" cy="164592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pic>
        <p:nvPicPr>
          <p:cNvPr id="14" name="Image 1" descr="/home/claude/m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3072384"/>
            <a:ext cx="4718304" cy="15361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64592" y="4626864"/>
            <a:ext cx="822960" cy="384048"/>
          </a:xfrm>
          <a:prstGeom prst="rightArrow">
            <a:avLst/>
          </a:prstGeom>
          <a:solidFill>
            <a:srgbClr val="B8975A">
              <a:alpha val="75000"/>
            </a:srgbClr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93792" y="9326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93792" y="932688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58384" y="10241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stats — Total Functions, Documented, Undocumented, coverage % with per-file table view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910328" y="12893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B897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910328" y="1289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04104" y="15361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193792" y="23042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193792" y="2304288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58384" y="23957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Google, NumPy or ReST style globally or per function — description updates instantly below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910328" y="26609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B897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910328" y="26609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04104" y="29077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93792" y="36758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193792" y="3675888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358384" y="37673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Analyse: Groq LLM reads the function body and generates a smart docstring. Apply to File writes it directly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910328" y="40325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B897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910328" y="4032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5404104" y="42793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2A4A5A">
              <a:alpha val="12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4114800" cy="4114800"/>
          </a:xfrm>
          <a:prstGeom prst="ellipse">
            <a:avLst/>
          </a:prstGeom>
          <a:solidFill>
            <a:srgbClr val="1A3445">
              <a:alpha val="10000"/>
            </a:srgbClr>
          </a:solidFill>
          <a:ln w="12700">
            <a:solidFill>
              <a:srgbClr val="1A34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1417320" cy="29260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— 4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920240" y="566928"/>
            <a:ext cx="347472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6400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Stats · Filters · Search · Tests · Export · Help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932688"/>
            <a:ext cx="4828032" cy="2029968"/>
          </a:xfrm>
          <a:prstGeom prst="rect">
            <a:avLst/>
          </a:prstGeom>
          <a:solidFill>
            <a:srgbClr val="080A0D"/>
          </a:solidFill>
          <a:ln w="190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932688"/>
            <a:ext cx="45720" cy="202996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pic>
        <p:nvPicPr>
          <p:cNvPr id="11" name="Image 0" descr="/home/claude/m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978408"/>
            <a:ext cx="4718304" cy="1920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4592" y="3035808"/>
            <a:ext cx="4828032" cy="1828800"/>
          </a:xfrm>
          <a:prstGeom prst="rect">
            <a:avLst/>
          </a:prstGeom>
          <a:solidFill>
            <a:srgbClr val="080A0D"/>
          </a:solidFill>
          <a:ln w="190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4592" y="3035808"/>
            <a:ext cx="45720" cy="182880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pic>
        <p:nvPicPr>
          <p:cNvPr id="14" name="Image 1" descr="/home/claude/m4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3090672"/>
            <a:ext cx="4718304" cy="171907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64592" y="4626864"/>
            <a:ext cx="822960" cy="384048"/>
          </a:xfrm>
          <a:prstGeom prst="rightArrow">
            <a:avLst/>
          </a:prstGeom>
          <a:solidFill>
            <a:srgbClr val="7A8FA6">
              <a:alpha val="75000"/>
            </a:srgbClr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93792" y="9326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93792" y="932688"/>
            <a:ext cx="45720" cy="120700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58384" y="10241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stat row — Files, Functions, Coverage %, PEP Issues, High CX. 5 tool buttons for all features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910328" y="12893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7A8F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910328" y="1289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04104" y="15361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193792" y="23042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193792" y="2304288"/>
            <a:ext cx="45720" cy="120700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58384" y="23957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Filters — filter by Documentation Status, Complexity Level, File name and Function name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910328" y="26609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7A8F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910328" y="26609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04104" y="29077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93792" y="3675888"/>
            <a:ext cx="373075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193792" y="3675888"/>
            <a:ext cx="45720" cy="120700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358384" y="3767328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panel: Total 19, Passed 10, Failed 9, Pass Rate 52.6% with stacked bar chart and Test Suites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910328" y="4032504"/>
            <a:ext cx="493776" cy="493776"/>
          </a:xfrm>
          <a:prstGeom prst="ellipse">
            <a:avLst/>
          </a:prstGeom>
          <a:solidFill>
            <a:srgbClr val="1E222B"/>
          </a:solidFill>
          <a:ln w="19050">
            <a:solidFill>
              <a:srgbClr val="7A8F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910328" y="4032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5404104" y="4279392"/>
            <a:ext cx="-210312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2A4A5A">
              <a:alpha val="12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4114800" cy="4114800"/>
          </a:xfrm>
          <a:prstGeom prst="ellipse">
            <a:avLst/>
          </a:prstGeom>
          <a:solidFill>
            <a:srgbClr val="1A3445">
              <a:alpha val="10000"/>
            </a:srgbClr>
          </a:solidFill>
          <a:ln w="12700">
            <a:solidFill>
              <a:srgbClr val="1A34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475488"/>
            <a:ext cx="548640" cy="0"/>
          </a:xfrm>
          <a:prstGeom prst="line">
            <a:avLst/>
          </a:prstGeom>
          <a:noFill/>
          <a:ln w="19050">
            <a:solidFill>
              <a:srgbClr val="B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320040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852928"/>
            <a:ext cx="8778240" cy="0"/>
          </a:xfrm>
          <a:prstGeom prst="line">
            <a:avLst/>
          </a:prstGeom>
          <a:noFill/>
          <a:ln w="25400">
            <a:solidFill>
              <a:srgbClr val="2A2F3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32688" y="2578608"/>
            <a:ext cx="0" cy="256032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688336"/>
            <a:ext cx="347472" cy="347472"/>
          </a:xfrm>
          <a:prstGeom prst="ellipse">
            <a:avLst/>
          </a:prstGeom>
          <a:solidFill>
            <a:srgbClr val="B8975A"/>
          </a:solidFill>
          <a:ln w="31750">
            <a:solidFill>
              <a:srgbClr val="111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31136"/>
            <a:ext cx="420624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3113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" y="987552"/>
            <a:ext cx="171907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728" y="987552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0789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1389888"/>
            <a:ext cx="137160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444752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Python source code to identify potential quality issues automatically.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61488" y="2907792"/>
            <a:ext cx="0" cy="256032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8608" y="2688336"/>
            <a:ext cx="347472" cy="347472"/>
          </a:xfrm>
          <a:prstGeom prst="ellipse">
            <a:avLst/>
          </a:prstGeom>
          <a:solidFill>
            <a:srgbClr val="B8975A"/>
          </a:solidFill>
          <a:ln w="31750">
            <a:solidFill>
              <a:srgbClr val="1113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42032" y="3218688"/>
            <a:ext cx="420624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321868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38528" y="3163824"/>
            <a:ext cx="1719072" cy="138988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38528" y="3163824"/>
            <a:ext cx="45720" cy="138988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9968" y="325526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 Identification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29968" y="3566160"/>
            <a:ext cx="137160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9968" y="3621024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or incomplete docstrings to ensure comprehensive documentation.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90288" y="2578608"/>
            <a:ext cx="0" cy="256032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7408" y="2688336"/>
            <a:ext cx="347472" cy="347472"/>
          </a:xfrm>
          <a:prstGeom prst="ellipse">
            <a:avLst/>
          </a:prstGeom>
          <a:solidFill>
            <a:srgbClr val="B8975A"/>
          </a:solidFill>
          <a:ln w="31750">
            <a:solidFill>
              <a:srgbClr val="1113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0832" y="2231136"/>
            <a:ext cx="420624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223113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67328" y="987552"/>
            <a:ext cx="171907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67328" y="987552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10789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Generation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58768" y="1389888"/>
            <a:ext cx="137160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58768" y="1444752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docstrings using Groq AI to improve code understanding.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19088" y="2907792"/>
            <a:ext cx="0" cy="256032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36208" y="2688336"/>
            <a:ext cx="347472" cy="347472"/>
          </a:xfrm>
          <a:prstGeom prst="ellipse">
            <a:avLst/>
          </a:prstGeom>
          <a:solidFill>
            <a:srgbClr val="B8975A"/>
          </a:solidFill>
          <a:ln w="31750">
            <a:solidFill>
              <a:srgbClr val="1113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3218688"/>
            <a:ext cx="420624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321868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96128" y="3163824"/>
            <a:ext cx="1719072" cy="138988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96128" y="3163824"/>
            <a:ext cx="45720" cy="138988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325526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Validation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87568" y="3566160"/>
            <a:ext cx="137160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87568" y="3621024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documentation against PEP 257 styles to maintain consistency.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47888" y="2578608"/>
            <a:ext cx="0" cy="256032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65008" y="2688336"/>
            <a:ext cx="347472" cy="347472"/>
          </a:xfrm>
          <a:prstGeom prst="ellipse">
            <a:avLst/>
          </a:prstGeom>
          <a:solidFill>
            <a:srgbClr val="B8975A"/>
          </a:solidFill>
          <a:ln w="31750">
            <a:solidFill>
              <a:srgbClr val="1113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28432" y="2231136"/>
            <a:ext cx="420624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28432" y="223113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24928" y="987552"/>
            <a:ext cx="1719072" cy="1207008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424928" y="987552"/>
            <a:ext cx="45720" cy="120700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16368" y="10789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Reports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516368" y="1389888"/>
            <a:ext cx="1371600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16368" y="1444752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detailed coverage reports for documentation quality tracking.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2A4A5A">
              <a:alpha val="12000"/>
            </a:srgbClr>
          </a:solidFill>
          <a:ln w="12700">
            <a:solidFill>
              <a:srgbClr val="2A4A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4114800" cy="4114800"/>
          </a:xfrm>
          <a:prstGeom prst="ellipse">
            <a:avLst/>
          </a:prstGeom>
          <a:solidFill>
            <a:srgbClr val="1A3445">
              <a:alpha val="10000"/>
            </a:srgbClr>
          </a:solidFill>
          <a:ln w="12700">
            <a:solidFill>
              <a:srgbClr val="1A34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81C23"/>
          </a:solidFill>
          <a:ln w="12700">
            <a:solidFill>
              <a:srgbClr val="181C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4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438912"/>
            <a:ext cx="548640" cy="0"/>
          </a:xfrm>
          <a:prstGeom prst="line">
            <a:avLst/>
          </a:prstGeom>
          <a:noFill/>
          <a:ln w="19050">
            <a:solidFill>
              <a:srgbClr val="B89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7548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Summary — What We Built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" y="1417320"/>
            <a:ext cx="2029968" cy="3456432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417320"/>
            <a:ext cx="2029968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1554480"/>
            <a:ext cx="658368" cy="2560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15544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9019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22576"/>
            <a:ext cx="1627632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414016"/>
            <a:ext cx="17739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AST-based complexity scoring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Radon Maintainability Index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cards with badges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CSV export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23744" y="1417320"/>
            <a:ext cx="2029968" cy="3456432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23744" y="1417320"/>
            <a:ext cx="2029968" cy="54864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554480"/>
            <a:ext cx="658368" cy="256032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15544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33472" y="19019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&amp; AI Fix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24912" y="2322576"/>
            <a:ext cx="1627632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414016"/>
            <a:ext cx="17739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257 D100–D400 checker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&amp; bulk AI Fix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auto-repair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view + apply to disk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0016" y="1417320"/>
            <a:ext cx="2029968" cy="3456432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1417320"/>
            <a:ext cx="2029968" cy="5486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1554480"/>
            <a:ext cx="658368" cy="2560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5544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9744" y="19019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 Generator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01184" y="2322576"/>
            <a:ext cx="1627632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414016"/>
            <a:ext cx="17739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NumPy / ReST styles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Per-function style selector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 from function body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apply to file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76288" y="1417320"/>
            <a:ext cx="2029968" cy="3456432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76288" y="1417320"/>
            <a:ext cx="2029968" cy="54864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71232" y="1554480"/>
            <a:ext cx="658368" cy="256032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15544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6016" y="19019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77456" y="2322576"/>
            <a:ext cx="1627632" cy="0"/>
          </a:xfrm>
          <a:prstGeom prst="line">
            <a:avLst/>
          </a:prstGeom>
          <a:noFill/>
          <a:ln w="10160">
            <a:solidFill>
              <a:srgbClr val="2A2F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04304" y="2414016"/>
            <a:ext cx="17739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5-tool navigation bar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4 stat cards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chart by file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stat row + test suites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A fully working AI-powered code quality dashboard. Scan any Python project, fix issues with one click, track coverage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2560320"/>
            <a:ext cx="6858000" cy="6858000"/>
          </a:xfrm>
          <a:prstGeom prst="ellipse">
            <a:avLst/>
          </a:prstGeom>
          <a:solidFill>
            <a:srgbClr val="141E28">
              <a:alpha val="20000"/>
            </a:srgbClr>
          </a:solidFill>
          <a:ln w="12700">
            <a:solidFill>
              <a:srgbClr val="141E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011680"/>
            <a:ext cx="5943600" cy="5943600"/>
          </a:xfrm>
          <a:prstGeom prst="ellipse">
            <a:avLst/>
          </a:prstGeom>
          <a:solidFill>
            <a:srgbClr val="0E1A22">
              <a:alpha val="15000"/>
            </a:srgbClr>
          </a:solidFill>
          <a:ln w="12700">
            <a:solidFill>
              <a:srgbClr val="0E1A2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320040"/>
            <a:ext cx="2377440" cy="2377440"/>
          </a:xfrm>
          <a:prstGeom prst="ellipse">
            <a:avLst/>
          </a:prstGeom>
          <a:solidFill>
            <a:srgbClr val="181C23"/>
          </a:solidFill>
          <a:ln w="31750">
            <a:solidFill>
              <a:srgbClr val="2A2F3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11880" y="548640"/>
            <a:ext cx="1920240" cy="1920240"/>
          </a:xfrm>
          <a:prstGeom prst="ellipse">
            <a:avLst/>
          </a:prstGeom>
          <a:solidFill>
            <a:srgbClr val="1E222B"/>
          </a:solidFill>
          <a:ln w="15240">
            <a:solidFill>
              <a:srgbClr val="2A4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13632" y="841248"/>
            <a:ext cx="1316736" cy="1316736"/>
          </a:xfrm>
          <a:prstGeom prst="ellipse">
            <a:avLst/>
          </a:prstGeom>
          <a:solidFill>
            <a:srgbClr val="111318"/>
          </a:solidFill>
          <a:ln w="22860">
            <a:solidFill>
              <a:srgbClr val="B89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43984" y="1371600"/>
            <a:ext cx="256032" cy="256032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16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2926080" y="3913632"/>
            <a:ext cx="3291840" cy="0"/>
          </a:xfrm>
          <a:prstGeom prst="line">
            <a:avLst/>
          </a:prstGeom>
          <a:noFill/>
          <a:ln w="20320">
            <a:solidFill>
              <a:srgbClr val="B89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0050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Reviewer  ·  AI-Powered Python Code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4439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algn="ctr" indent="0" marL="0">
              <a:buNone/>
            </a:pPr>
            <a:r>
              <a:rPr lang="en-US" sz="11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CR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12700">
            <a:solidFill>
              <a:srgbClr val="2A2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Streamlit  ·  Groq API  ·  Radon  ·  Plotly  ·  Pytest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Code Reviewer</dc:title>
  <dc:subject>PptxGenJS Presentation</dc:subject>
  <dc:creator>PptxGenJS</dc:creator>
  <cp:lastModifiedBy>PptxGenJS</cp:lastModifiedBy>
  <cp:revision>1</cp:revision>
  <dcterms:created xsi:type="dcterms:W3CDTF">2026-03-28T05:41:40Z</dcterms:created>
  <dcterms:modified xsi:type="dcterms:W3CDTF">2026-03-28T05:41:40Z</dcterms:modified>
</cp:coreProperties>
</file>